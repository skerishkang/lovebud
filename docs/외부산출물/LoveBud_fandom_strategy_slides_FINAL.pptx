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flat_lay_collage_style_graphic_design_sc_batch_2_cover_final_3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66928"/>
            <a:ext cx="5303520" cy="69037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44805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4200" b="1">
                <a:solidFill>
                  <a:srgbClr val="844658"/>
                </a:solidFill>
                <a:latin typeface="Malgun Gothic"/>
              </a:defRPr>
            </a:pPr>
            <a:r>
              <a:t>LoveBud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74519"/>
            <a:ext cx="4572000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  <a:defRPr sz="2550" b="1">
                <a:solidFill>
                  <a:srgbClr val="2D2623"/>
                </a:solidFill>
                <a:latin typeface="Malgun Gothic"/>
              </a:defRPr>
            </a:pPr>
            <a:r>
              <a:t>입덕의 순간을</a:t>
            </a:r>
            <a:br/>
            <a:r>
              <a:t>감정 경로로 남기는</a:t>
            </a:r>
            <a:br/>
            <a:r>
              <a:t>팬덤 스크랩북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434340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20" b="0">
                <a:solidFill>
                  <a:srgbClr val="695E58"/>
                </a:solidFill>
                <a:latin typeface="Malgun Gothic"/>
              </a:defRPr>
            </a:pPr>
            <a:r>
              <a:t>영상 · 시점 · 감정 메모 · 공유 가능한 러브트리를 하나의 팬페이지처럼 연결합니다.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6016752"/>
            <a:ext cx="1143000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6085332"/>
            <a:ext cx="996696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6080760"/>
            <a:ext cx="29260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30" b="1">
                <a:solidFill>
                  <a:srgbClr val="844658"/>
                </a:solidFill>
                <a:latin typeface="Malgun Gothic"/>
              </a:defRPr>
            </a:pPr>
            <a:r>
              <a:t>사업화 방향 보고용 슬라이드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20040"/>
            <a:ext cx="3017520" cy="1737360"/>
          </a:xfrm>
          <a:prstGeom prst="ellipse">
            <a:avLst/>
          </a:prstGeom>
          <a:solidFill>
            <a:srgbClr val="BC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0" y="-365760"/>
            <a:ext cx="2926080" cy="1828800"/>
          </a:xfrm>
          <a:prstGeom prst="ellipse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0" y="6629400"/>
            <a:ext cx="3200400" cy="182880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6812280"/>
            <a:ext cx="2011680" cy="100584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58368"/>
            <a:ext cx="13213080" cy="13716"/>
          </a:xfrm>
          <a:prstGeom prst="rect">
            <a:avLst/>
          </a:prstGeom>
          <a:solidFill>
            <a:srgbClr val="BA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987552"/>
            <a:ext cx="7498079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900" b="1">
                <a:solidFill>
                  <a:srgbClr val="2D2623"/>
                </a:solidFill>
                <a:latin typeface="Malgun Gothic"/>
              </a:defRPr>
            </a:pPr>
            <a:r>
              <a:t>기록은 많지만,</a:t>
            </a:r>
            <a:br/>
            <a:r>
              <a:t>입덕의 맥락은 흩어집니다.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6400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380" b="0">
                <a:solidFill>
                  <a:srgbClr val="695E58"/>
                </a:solidFill>
                <a:latin typeface="Malgun Gothic"/>
              </a:defRPr>
            </a:pPr>
            <a:r>
              <a:t>팬은 이미 SNS, 유튜브, 블로그에서 기록하지만 ‘왜 좋아졌는지’의 경로는 남기기 어렵습니다.</a:t>
            </a:r>
          </a:p>
        </p:txBody>
      </p:sp>
      <p:pic>
        <p:nvPicPr>
          <p:cNvPr id="11" name="Picture 10" descr="a_wide_clean_digital_collage_moodboard_scene_on_batch_1_crop_6207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868680"/>
            <a:ext cx="6126480" cy="49377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749808"/>
            <a:ext cx="635508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063240"/>
            <a:ext cx="960120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131820"/>
            <a:ext cx="813816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099816"/>
            <a:ext cx="4023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20" b="0">
                <a:solidFill>
                  <a:srgbClr val="695E58"/>
                </a:solidFill>
                <a:latin typeface="Malgun Gothic"/>
              </a:defRPr>
            </a:pPr>
            <a:r>
              <a:t>저장되지만 감정 맥락이 약함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67912"/>
            <a:ext cx="960120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936492"/>
            <a:ext cx="813816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영상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3904488"/>
            <a:ext cx="4023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20" b="0">
                <a:solidFill>
                  <a:srgbClr val="695E58"/>
                </a:solidFill>
                <a:latin typeface="Malgun Gothic"/>
              </a:defRPr>
            </a:pPr>
            <a:r>
              <a:t>특별했던 장면이 시간이 지나며 흐려짐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672584"/>
            <a:ext cx="960120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741164"/>
            <a:ext cx="813816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4709160"/>
            <a:ext cx="4023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20" b="0">
                <a:solidFill>
                  <a:srgbClr val="695E58"/>
                </a:solidFill>
                <a:latin typeface="Malgun Gothic"/>
              </a:defRPr>
            </a:pPr>
            <a:r>
              <a:t>입덕 루트를 한 페이지로 보여주기 어려움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6163056"/>
            <a:ext cx="6217920" cy="53035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6336792"/>
            <a:ext cx="5742432" cy="1280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844658"/>
                </a:solidFill>
                <a:latin typeface="Malgun Gothic"/>
              </a:defRPr>
            </a:pPr>
            <a:r>
              <a:t>LoveBud의 기회는 ‘저장’이 아니라 ‘팬심의 경로 복원’입니다.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20040"/>
            <a:ext cx="3017520" cy="1737360"/>
          </a:xfrm>
          <a:prstGeom prst="ellipse">
            <a:avLst/>
          </a:prstGeom>
          <a:solidFill>
            <a:srgbClr val="BC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0" y="-365760"/>
            <a:ext cx="2926080" cy="1828800"/>
          </a:xfrm>
          <a:prstGeom prst="ellipse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0" y="6629400"/>
            <a:ext cx="3200400" cy="182880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6812280"/>
            <a:ext cx="2011680" cy="100584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58368"/>
            <a:ext cx="13213080" cy="13716"/>
          </a:xfrm>
          <a:prstGeom prst="rect">
            <a:avLst/>
          </a:prstGeom>
          <a:solidFill>
            <a:srgbClr val="BA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987552"/>
            <a:ext cx="7498079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900" b="1">
                <a:solidFill>
                  <a:srgbClr val="2D2623"/>
                </a:solidFill>
                <a:latin typeface="Malgun Gothic"/>
              </a:defRPr>
            </a:pPr>
            <a:r>
              <a:t>LoveBud는 북마크 앱이 아니라</a:t>
            </a:r>
            <a:br/>
            <a:r>
              <a:t>감정 경로 기록 서비스입니다.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6400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380" b="0">
                <a:solidFill>
                  <a:srgbClr val="695E58"/>
                </a:solidFill>
                <a:latin typeface="Malgun Gothic"/>
              </a:defRPr>
            </a:pPr>
            <a:r>
              <a:t>입덕 영상의 특정 시점, 감정 메모, 연결된 흐름, 공유 링크가 하나의 러브트리가 됩니다.</a:t>
            </a:r>
          </a:p>
        </p:txBody>
      </p:sp>
      <p:pic>
        <p:nvPicPr>
          <p:cNvPr id="11" name="Picture 10" descr="wide_soft_pastel_ui_illustration_scene_like_a_dig_batch_3_crop_7715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868680"/>
            <a:ext cx="7315200" cy="5486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26480" y="749808"/>
            <a:ext cx="7543800" cy="571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788920"/>
            <a:ext cx="749808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57500"/>
            <a:ext cx="603503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788920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D2623"/>
                </a:solidFill>
                <a:latin typeface="Malgun Gothic"/>
              </a:defRPr>
            </a:pPr>
            <a:r>
              <a:t>영상 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07208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40" b="0">
                <a:solidFill>
                  <a:srgbClr val="695E58"/>
                </a:solidFill>
                <a:latin typeface="Malgun Gothic"/>
              </a:defRPr>
            </a:pPr>
            <a:r>
              <a:t>특정 장면을 남김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74720"/>
            <a:ext cx="749808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543300"/>
            <a:ext cx="603503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474720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D2623"/>
                </a:solidFill>
                <a:latin typeface="Malgun Gothic"/>
              </a:defRPr>
            </a:pPr>
            <a:r>
              <a:t>감정 메모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93008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40" b="0">
                <a:solidFill>
                  <a:srgbClr val="695E58"/>
                </a:solidFill>
                <a:latin typeface="Malgun Gothic"/>
              </a:defRPr>
            </a:pPr>
            <a:r>
              <a:t>왜 좋았는지 기록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160520"/>
            <a:ext cx="749808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229100"/>
            <a:ext cx="603503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160520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D2623"/>
                </a:solidFill>
                <a:latin typeface="Malgun Gothic"/>
              </a:defRPr>
            </a:pPr>
            <a:r>
              <a:t>러브트리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178807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40" b="0">
                <a:solidFill>
                  <a:srgbClr val="695E58"/>
                </a:solidFill>
                <a:latin typeface="Malgun Gothic"/>
              </a:defRPr>
            </a:pPr>
            <a:r>
              <a:t>순간을 경로로 연결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846320"/>
            <a:ext cx="749808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914900"/>
            <a:ext cx="603503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4846320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D2623"/>
                </a:solidFill>
                <a:latin typeface="Malgun Gothic"/>
              </a:defRPr>
            </a:pPr>
            <a:r>
              <a:t>공유 링크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864607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40" b="0">
                <a:solidFill>
                  <a:srgbClr val="695E58"/>
                </a:solidFill>
                <a:latin typeface="Malgun Gothic"/>
              </a:defRPr>
            </a:pPr>
            <a:r>
              <a:t>다른 팬의 시작점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172200"/>
            <a:ext cx="5303520" cy="53035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6345936"/>
            <a:ext cx="4846320" cy="1280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80" b="1">
                <a:solidFill>
                  <a:srgbClr val="844658"/>
                </a:solidFill>
                <a:latin typeface="Malgun Gothic"/>
              </a:defRPr>
            </a:pPr>
            <a:r>
              <a:t>한 줄 정의: 팬이 되어간 과정을 감상 가능한 페이지로 만드는 서비스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20040"/>
            <a:ext cx="3017520" cy="1737360"/>
          </a:xfrm>
          <a:prstGeom prst="ellipse">
            <a:avLst/>
          </a:prstGeom>
          <a:solidFill>
            <a:srgbClr val="BC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0" y="-365760"/>
            <a:ext cx="2926080" cy="1828800"/>
          </a:xfrm>
          <a:prstGeom prst="ellipse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0" y="6629400"/>
            <a:ext cx="3200400" cy="182880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6812280"/>
            <a:ext cx="2011680" cy="100584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58368"/>
            <a:ext cx="13213080" cy="13716"/>
          </a:xfrm>
          <a:prstGeom prst="rect">
            <a:avLst/>
          </a:prstGeom>
          <a:solidFill>
            <a:srgbClr val="BA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987552"/>
            <a:ext cx="7498079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900" b="1">
                <a:solidFill>
                  <a:srgbClr val="2D2623"/>
                </a:solidFill>
                <a:latin typeface="Malgun Gothic"/>
              </a:defRPr>
            </a:pPr>
            <a:r>
              <a:t>초기 타깃은 ‘입덕 루트를</a:t>
            </a:r>
            <a:br/>
            <a:r>
              <a:t>공유하고 싶은 팬’입니다.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6400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380" b="0">
                <a:solidFill>
                  <a:srgbClr val="695E58"/>
                </a:solidFill>
                <a:latin typeface="Malgun Gothic"/>
              </a:defRPr>
            </a:pPr>
            <a:r>
              <a:t>전체 팬덤이 아니라, 자기 팬심의 시작과 추천 경로를 보여주고 싶은 팬부터 잡아야 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43200"/>
            <a:ext cx="59893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19" y="3072384"/>
            <a:ext cx="1691640" cy="2057400"/>
          </a:xfrm>
          <a:prstGeom prst="roundRect">
            <a:avLst/>
          </a:prstGeom>
          <a:solidFill>
            <a:srgbClr val="FFFAF4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_clean_soft_editorial_style_illustration_compos_batch_4_crop_9456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3218688"/>
            <a:ext cx="1444752" cy="1097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307592" y="4535424"/>
            <a:ext cx="1078992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0744" y="4604004"/>
            <a:ext cx="93268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Persona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27248"/>
            <a:ext cx="3108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900" b="1">
                <a:solidFill>
                  <a:srgbClr val="2D2623"/>
                </a:solidFill>
                <a:latin typeface="Malgun Gothic"/>
              </a:defRPr>
            </a:pPr>
            <a:r>
              <a:t>입덕 직후 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7" y="3712463"/>
            <a:ext cx="324612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80" b="0">
                <a:solidFill>
                  <a:srgbClr val="695E58"/>
                </a:solidFill>
                <a:latin typeface="Malgun Gothic"/>
              </a:defRPr>
            </a:pPr>
            <a:r>
              <a:t>• 첫 장면을 잊고 싶지 않음</a:t>
            </a:r>
            <a:br/>
            <a:r>
              <a:t>• 좋아하게 된 이유를 기록</a:t>
            </a:r>
            <a:br/>
            <a:r>
              <a:t>• 나만의 감정 페이지를 원함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2743200"/>
            <a:ext cx="59893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07808" y="3072384"/>
            <a:ext cx="1691640" cy="2057400"/>
          </a:xfrm>
          <a:prstGeom prst="roundRect">
            <a:avLst/>
          </a:prstGeom>
          <a:solidFill>
            <a:srgbClr val="FFFAF4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ide_soft_pastel_ui_illustration_scene_like_a_dig_batch_3_crop_8658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218688"/>
            <a:ext cx="1444752" cy="10972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726679" y="4535424"/>
            <a:ext cx="1078992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1" y="4604004"/>
            <a:ext cx="93268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Persona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127248"/>
            <a:ext cx="31089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900" b="1">
                <a:solidFill>
                  <a:srgbClr val="2D2623"/>
                </a:solidFill>
                <a:latin typeface="Malgun Gothic"/>
              </a:defRPr>
            </a:pPr>
            <a:r>
              <a:t>영업/큐레이션 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3712463"/>
            <a:ext cx="324612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80" b="0">
                <a:solidFill>
                  <a:srgbClr val="695E58"/>
                </a:solidFill>
                <a:latin typeface="Malgun Gothic"/>
              </a:defRPr>
            </a:pPr>
            <a:r>
              <a:t>• 친구에게 입덕 루트 전달</a:t>
            </a:r>
            <a:br/>
            <a:r>
              <a:t>• 추천 영상 맥락 정리</a:t>
            </a:r>
            <a:br/>
            <a:r>
              <a:t>• 공유 가능한 페이지를 원함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6355080"/>
            <a:ext cx="12573000" cy="3474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6446520"/>
            <a:ext cx="12070080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50" b="1">
                <a:solidFill>
                  <a:srgbClr val="844658"/>
                </a:solidFill>
                <a:latin typeface="Malgun Gothic"/>
              </a:defRPr>
            </a:pPr>
            <a:r>
              <a:t>초기 메시지: “당신의 입덕 첫 순간은 무엇이었나요?”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soft_editorial_style_illustration_compos_batch_4_cover_final_6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658368"/>
            <a:ext cx="5230368" cy="685800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448056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800" b="1">
                <a:solidFill>
                  <a:srgbClr val="2D2623"/>
                </a:solidFill>
                <a:latin typeface="Malgun Gothic"/>
              </a:defRPr>
            </a:pPr>
            <a:r>
              <a:t>3 Moments로</a:t>
            </a:r>
            <a:br/>
            <a:r>
              <a:t>러브트리가 완성됩니다.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67712"/>
            <a:ext cx="4389120" cy="493776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60" b="0">
                <a:solidFill>
                  <a:srgbClr val="695E58"/>
                </a:solidFill>
                <a:latin typeface="Malgun Gothic"/>
              </a:defRPr>
            </a:pPr>
            <a:r>
              <a:t>첫 장면 하나로 끝나는 저장 서비스가 아니라, 세 개의 감정 순간이 연결될 때 공유 가치가 생깁니다.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3703320"/>
            <a:ext cx="841248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771900"/>
            <a:ext cx="694944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3730752"/>
            <a:ext cx="31089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80" b="0">
                <a:solidFill>
                  <a:srgbClr val="695E58"/>
                </a:solidFill>
                <a:latin typeface="Malgun Gothic"/>
              </a:defRPr>
            </a:pPr>
            <a:r>
              <a:t>입덕의 첫 장면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4416552"/>
            <a:ext cx="841248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4485132"/>
            <a:ext cx="694944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4443984"/>
            <a:ext cx="31089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80" b="0">
                <a:solidFill>
                  <a:srgbClr val="695E58"/>
                </a:solidFill>
                <a:latin typeface="Malgun Gothic"/>
              </a:defRPr>
            </a:pPr>
            <a:r>
              <a:t>다시 빠진 장면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5129783"/>
            <a:ext cx="841248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5198364"/>
            <a:ext cx="694944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5157216"/>
            <a:ext cx="31089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80" b="0">
                <a:solidFill>
                  <a:srgbClr val="695E58"/>
                </a:solidFill>
                <a:latin typeface="Malgun Gothic"/>
              </a:defRPr>
            </a:pPr>
            <a:r>
              <a:t>다른 팬에게 보여주기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20040"/>
            <a:ext cx="3017520" cy="1737360"/>
          </a:xfrm>
          <a:prstGeom prst="ellipse">
            <a:avLst/>
          </a:prstGeom>
          <a:solidFill>
            <a:srgbClr val="BC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0" y="-365760"/>
            <a:ext cx="2926080" cy="1828800"/>
          </a:xfrm>
          <a:prstGeom prst="ellipse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0" y="6629400"/>
            <a:ext cx="3200400" cy="182880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6812280"/>
            <a:ext cx="2011680" cy="100584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58368"/>
            <a:ext cx="13213080" cy="13716"/>
          </a:xfrm>
          <a:prstGeom prst="rect">
            <a:avLst/>
          </a:prstGeom>
          <a:solidFill>
            <a:srgbClr val="BA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987552"/>
            <a:ext cx="7498079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900" b="1">
                <a:solidFill>
                  <a:srgbClr val="2D2623"/>
                </a:solidFill>
                <a:latin typeface="Malgun Gothic"/>
              </a:defRPr>
            </a:pPr>
            <a:r>
              <a:t>사업 루프는 생성이 아니라</a:t>
            </a:r>
            <a:br/>
            <a:r>
              <a:t>‘공유 후 재생성’까지입니다.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6400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380" b="0">
                <a:solidFill>
                  <a:srgbClr val="695E58"/>
                </a:solidFill>
                <a:latin typeface="Malgun Gothic"/>
              </a:defRPr>
            </a:pPr>
            <a:r>
              <a:t>공유 링크를 받은 사람이 다시 만들고 싶어지는 구조가 먼저 필요합니다.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2148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8136" y="3456432"/>
            <a:ext cx="896112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525012"/>
            <a:ext cx="74980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005072"/>
            <a:ext cx="171907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20" b="1">
                <a:solidFill>
                  <a:srgbClr val="2D2623"/>
                </a:solidFill>
                <a:latin typeface="Malgun Gothic"/>
              </a:defRPr>
            </a:pPr>
            <a:r>
              <a:t>첫 순간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858768"/>
            <a:ext cx="256032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BA9A6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3246120"/>
            <a:ext cx="2148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58184" y="3456432"/>
            <a:ext cx="896112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3525012"/>
            <a:ext cx="74980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4005072"/>
            <a:ext cx="171907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20" b="1">
                <a:solidFill>
                  <a:srgbClr val="2D2623"/>
                </a:solidFill>
                <a:latin typeface="Malgun Gothic"/>
              </a:defRPr>
            </a:pPr>
            <a:r>
              <a:t>3개 순간 완성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858768"/>
            <a:ext cx="256032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BA9A6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246120"/>
            <a:ext cx="2148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28232" y="3456432"/>
            <a:ext cx="896112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3525012"/>
            <a:ext cx="74980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4005072"/>
            <a:ext cx="171907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20" b="1">
                <a:solidFill>
                  <a:srgbClr val="2D2623"/>
                </a:solidFill>
                <a:latin typeface="Malgun Gothic"/>
              </a:defRPr>
            </a:pPr>
            <a:r>
              <a:t>링크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858768"/>
            <a:ext cx="256032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BA9A6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78824" y="3246120"/>
            <a:ext cx="2148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98280" y="3456432"/>
            <a:ext cx="896112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3525012"/>
            <a:ext cx="74980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4005072"/>
            <a:ext cx="171907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20" b="1">
                <a:solidFill>
                  <a:srgbClr val="2D2623"/>
                </a:solidFill>
                <a:latin typeface="Malgun Gothic"/>
              </a:defRPr>
            </a:pPr>
            <a:r>
              <a:t>다른 팬 감상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0815" y="3858768"/>
            <a:ext cx="256032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BA9A6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548872" y="3246120"/>
            <a:ext cx="2148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768328" y="3456432"/>
            <a:ext cx="896112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41480" y="3525012"/>
            <a:ext cx="74980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Recreate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4005072"/>
            <a:ext cx="171907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20" b="1">
                <a:solidFill>
                  <a:srgbClr val="2D2623"/>
                </a:solidFill>
                <a:latin typeface="Malgun Gothic"/>
              </a:defRPr>
            </a:pPr>
            <a:r>
              <a:t>나도 만들기</a:t>
            </a:r>
          </a:p>
        </p:txBody>
      </p:sp>
      <p:pic>
        <p:nvPicPr>
          <p:cNvPr id="35" name="Picture 34" descr="a_wide_flat_lay_collage_style_graphic_design_sc_batch_2_crop_7515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5257800"/>
            <a:ext cx="5394960" cy="13716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868680" y="5870448"/>
            <a:ext cx="6629400" cy="64008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6071616"/>
            <a:ext cx="6172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10" b="1">
                <a:solidFill>
                  <a:srgbClr val="844658"/>
                </a:solidFill>
                <a:latin typeface="Malgun Gothic"/>
              </a:defRPr>
            </a:pPr>
            <a:r>
              <a:t>핵심 KPI: 3 Moments 완성률 · 공유 링크 복사율 · 공유 링크 방문률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20040"/>
            <a:ext cx="3017520" cy="1737360"/>
          </a:xfrm>
          <a:prstGeom prst="ellipse">
            <a:avLst/>
          </a:prstGeom>
          <a:solidFill>
            <a:srgbClr val="BC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0" y="-365760"/>
            <a:ext cx="2926080" cy="1828800"/>
          </a:xfrm>
          <a:prstGeom prst="ellipse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0" y="6629400"/>
            <a:ext cx="3200400" cy="182880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6812280"/>
            <a:ext cx="2011680" cy="100584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58368"/>
            <a:ext cx="13213080" cy="13716"/>
          </a:xfrm>
          <a:prstGeom prst="rect">
            <a:avLst/>
          </a:prstGeom>
          <a:solidFill>
            <a:srgbClr val="BA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987552"/>
            <a:ext cx="7498079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900" b="1">
                <a:solidFill>
                  <a:srgbClr val="2D2623"/>
                </a:solidFill>
                <a:latin typeface="Malgun Gothic"/>
              </a:defRPr>
            </a:pPr>
            <a:r>
              <a:t>30명의 실제 팬으로</a:t>
            </a:r>
            <a:br/>
            <a:r>
              <a:t>작게 검증합니다.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6400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380" b="0">
                <a:solidFill>
                  <a:srgbClr val="695E58"/>
                </a:solidFill>
                <a:latin typeface="Malgun Gothic"/>
              </a:defRPr>
            </a:pPr>
            <a:r>
              <a:t>필요한 건 큰 트래픽이 아니라, 팬이 자기 이야기를 만들고 공유하는지 보는 것입니다.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90672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55848"/>
            <a:ext cx="11887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600" b="1">
                <a:solidFill>
                  <a:srgbClr val="844658"/>
                </a:solidFill>
                <a:latin typeface="Malgun Gothic"/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20440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D2623"/>
                </a:solidFill>
                <a:latin typeface="Malgun Gothic"/>
              </a:defRPr>
            </a:pPr>
            <a:r>
              <a:t>팬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60520"/>
            <a:ext cx="256032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20" b="0">
                <a:solidFill>
                  <a:srgbClr val="695E58"/>
                </a:solidFill>
                <a:latin typeface="Malgun Gothic"/>
              </a:defRPr>
            </a:pPr>
            <a:r>
              <a:t>테스트 가능한 초기 사용자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090672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3355848"/>
            <a:ext cx="11887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600" b="1">
                <a:solidFill>
                  <a:srgbClr val="844658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20440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D2623"/>
                </a:solidFill>
                <a:latin typeface="Malgun Gothic"/>
              </a:defRPr>
            </a:pPr>
            <a:r>
              <a:t>완성 트리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160520"/>
            <a:ext cx="256032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20" b="0">
                <a:solidFill>
                  <a:srgbClr val="695E58"/>
                </a:solidFill>
                <a:latin typeface="Malgun Gothic"/>
              </a:defRPr>
            </a:pPr>
            <a:r>
              <a:t>3 Moments까지 완성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090672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355848"/>
            <a:ext cx="11887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600" b="1">
                <a:solidFill>
                  <a:srgbClr val="844658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520440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20" b="1">
                <a:solidFill>
                  <a:srgbClr val="2D2623"/>
                </a:solidFill>
                <a:latin typeface="Malgun Gothic"/>
              </a:defRPr>
            </a:pPr>
            <a:r>
              <a:t>공유 사용자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160520"/>
            <a:ext cx="256032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20" b="0">
                <a:solidFill>
                  <a:srgbClr val="695E58"/>
                </a:solidFill>
                <a:latin typeface="Malgun Gothic"/>
              </a:defRPr>
            </a:pPr>
            <a:r>
              <a:t>링크를 실제로 공유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596128"/>
            <a:ext cx="12618720" cy="841248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833872"/>
            <a:ext cx="119786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80" b="1">
                <a:solidFill>
                  <a:srgbClr val="844658"/>
                </a:solidFill>
                <a:latin typeface="Malgun Gothic"/>
              </a:defRPr>
            </a:pPr>
            <a:r>
              <a:t>성공 기준: 완성률과 공유율이 나오면 Plus·테마·export 같은 수익화 기능으로 확장합니다.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20040"/>
            <a:ext cx="3017520" cy="1737360"/>
          </a:xfrm>
          <a:prstGeom prst="ellipse">
            <a:avLst/>
          </a:prstGeom>
          <a:solidFill>
            <a:srgbClr val="BC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0" y="-365760"/>
            <a:ext cx="2926080" cy="1828800"/>
          </a:xfrm>
          <a:prstGeom prst="ellipse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0" y="6629400"/>
            <a:ext cx="3200400" cy="182880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6812280"/>
            <a:ext cx="2011680" cy="1005840"/>
          </a:xfrm>
          <a:prstGeom prst="ellipse">
            <a:avLst/>
          </a:prstGeom>
          <a:solidFill>
            <a:srgbClr val="F0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58368"/>
            <a:ext cx="13213080" cy="13716"/>
          </a:xfrm>
          <a:prstGeom prst="rect">
            <a:avLst/>
          </a:prstGeom>
          <a:solidFill>
            <a:srgbClr val="BA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987552"/>
            <a:ext cx="7498079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900" b="1">
                <a:solidFill>
                  <a:srgbClr val="2D2623"/>
                </a:solidFill>
                <a:latin typeface="Malgun Gothic"/>
              </a:defRPr>
            </a:pPr>
            <a:r>
              <a:t>수익화는 공유 루프 이후에</a:t>
            </a:r>
            <a:br/>
            <a:r>
              <a:t>붙여야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64008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380" b="0">
                <a:solidFill>
                  <a:srgbClr val="695E58"/>
                </a:solidFill>
                <a:latin typeface="Malgun Gothic"/>
              </a:defRPr>
            </a:pPr>
            <a:r>
              <a:t>무료 공개 트리로 사용 사례와 팬페이지 콘텐츠를 먼저 확보합니다.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71800"/>
            <a:ext cx="38862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182112"/>
            <a:ext cx="786384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50692"/>
            <a:ext cx="640080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2D2623"/>
                </a:solidFill>
                <a:latin typeface="Malgun Gothic"/>
              </a:defRPr>
            </a:pPr>
            <a:r>
              <a:t>무료 공개 트리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1"/>
            <a:ext cx="3246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695E58"/>
                </a:solidFill>
                <a:latin typeface="Malgun Gothic"/>
              </a:defRPr>
            </a:pPr>
            <a:r>
              <a:t>누구나 만들고 공유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971800"/>
            <a:ext cx="38862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40680" y="3182112"/>
            <a:ext cx="786384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2" y="3250692"/>
            <a:ext cx="640080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2단계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61188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2D2623"/>
                </a:solidFill>
                <a:latin typeface="Malgun Gothic"/>
              </a:defRPr>
            </a:pPr>
            <a:r>
              <a:t>Plus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050791"/>
            <a:ext cx="3246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695E58"/>
                </a:solidFill>
                <a:latin typeface="Malgun Gothic"/>
              </a:defRPr>
            </a:pPr>
            <a:r>
              <a:t>비공개 보관 · 테마 ·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971800"/>
            <a:ext cx="38862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84080" y="3182112"/>
            <a:ext cx="786384" cy="310896"/>
          </a:xfrm>
          <a:prstGeom prst="roundRect">
            <a:avLst/>
          </a:prstGeom>
          <a:solidFill>
            <a:srgbClr val="708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7232" y="3250692"/>
            <a:ext cx="640080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3단계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61188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2D2623"/>
                </a:solidFill>
                <a:latin typeface="Malgun Gothic"/>
              </a:defRPr>
            </a:pPr>
            <a:r>
              <a:t>팬덤용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050791"/>
            <a:ext cx="3246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695E58"/>
                </a:solidFill>
                <a:latin typeface="Malgun Gothic"/>
              </a:defRPr>
            </a:pPr>
            <a:r>
              <a:t>입덕 가이드 · 큐레이션 · 임베드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998464"/>
            <a:ext cx="12664440" cy="5029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6163056"/>
            <a:ext cx="121158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70" b="1">
                <a:solidFill>
                  <a:srgbClr val="844658"/>
                </a:solidFill>
                <a:latin typeface="Malgun Gothic"/>
              </a:defRPr>
            </a:pPr>
            <a:r>
              <a:t>마케팅 시작점: “입덕트리 3 Moments 챌린지” — 앱 소개가 아니라 팬의 이야기를 만드는 캠페인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flat_lay_collage_style_graphic_design_sc_batch_2_cover_final_3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5486400" cy="693115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94944"/>
            <a:ext cx="5669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19" b="1">
                <a:solidFill>
                  <a:srgbClr val="844658"/>
                </a:solidFill>
                <a:latin typeface="Malgun Gothic"/>
              </a:defRPr>
            </a:pPr>
            <a:r>
              <a:t>LOVEBUD · FANDOM MEMORY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15568"/>
            <a:ext cx="4709160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640" b="1">
                <a:solidFill>
                  <a:srgbClr val="2D2623"/>
                </a:solidFill>
                <a:latin typeface="Malgun Gothic"/>
              </a:defRPr>
            </a:pPr>
            <a:r>
              <a:t>지금은 더 많은 기능보다</a:t>
            </a:r>
            <a:br/>
            <a:r>
              <a:t>공유되는 이유를 증명할 때입니다.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04872"/>
            <a:ext cx="45720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340" b="0">
                <a:solidFill>
                  <a:srgbClr val="695E58"/>
                </a:solidFill>
                <a:latin typeface="Malgun Gothic"/>
              </a:defRPr>
            </a:pPr>
            <a:r>
              <a:t>LoveBud는 팬이 좋아하는 영상을 저장하는 앱이 아니라, 팬이 되어간 감정의 경로를 만들고 공유하는 서비스로 가야 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452628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4041648"/>
            <a:ext cx="804672" cy="310896"/>
          </a:xfrm>
          <a:prstGeom prst="roundRect">
            <a:avLst/>
          </a:prstGeom>
          <a:solidFill>
            <a:srgbClr val="8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4110228"/>
            <a:ext cx="658368" cy="118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62272"/>
            <a:ext cx="3840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60" b="0">
                <a:solidFill>
                  <a:srgbClr val="695E58"/>
                </a:solidFill>
                <a:latin typeface="Malgun Gothic"/>
              </a:defRPr>
            </a:pPr>
            <a:r>
              <a:t>• Deep Link 최우선 개발</a:t>
            </a:r>
            <a:br/>
            <a:r>
              <a:t>• 샘플 러브트리 5~10개 제작</a:t>
            </a:r>
            <a:br/>
            <a:r>
              <a:t>• 팬 30명 비공개 테스트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806440"/>
            <a:ext cx="4526280" cy="53035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5971032"/>
            <a:ext cx="40690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50" b="1">
                <a:solidFill>
                  <a:srgbClr val="844658"/>
                </a:solidFill>
                <a:latin typeface="Malgun Gothic"/>
              </a:defRPr>
            </a:pPr>
            <a:r>
              <a:t>판단 기준: 3 Moments 완성률과 공유율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0" y="7525512"/>
            <a:ext cx="5029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rm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695E58"/>
                </a:solidFill>
                <a:latin typeface="Malgun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