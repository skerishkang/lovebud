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628" y="826740"/>
            <a:ext cx="823874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buNone/>
            </a:pPr>
            <a:r>
              <a:rPr lang="en-US" sz="75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🌸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452628" y="2407890"/>
            <a:ext cx="8238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6000" b="1" dirty="0">
                <a:solidFill>
                  <a:srgbClr val="E879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LoveBud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2628" y="3703290"/>
            <a:ext cx="8238744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사업 전략 보고서</a:t>
            </a:r>
            <a:endParaRPr lang="en-US" sz="1680" dirty="0"/>
          </a:p>
        </p:txBody>
      </p:sp>
      <p:sp>
        <p:nvSpPr>
          <p:cNvPr id="5" name="Text 3"/>
          <p:cNvSpPr/>
          <p:nvPr/>
        </p:nvSpPr>
        <p:spPr>
          <a:xfrm>
            <a:off x="452628" y="4099620"/>
            <a:ext cx="823874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팬 감정 러브트리 서비스의 비즈니스 기회와 성장 전략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763911"/>
            <a:ext cx="3962400" cy="838200"/>
          </a:xfrm>
          <a:prstGeom prst="roundRect">
            <a:avLst>
              <a:gd name="adj" fmla="val 13090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954411"/>
            <a:ext cx="42416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48200" y="1763911"/>
            <a:ext cx="3962400" cy="838200"/>
          </a:xfrm>
          <a:prstGeom prst="roundRect">
            <a:avLst>
              <a:gd name="adj" fmla="val 13090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954411"/>
            <a:ext cx="42416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400" y="2754511"/>
            <a:ext cx="3962400" cy="838200"/>
          </a:xfrm>
          <a:prstGeom prst="roundRect">
            <a:avLst>
              <a:gd name="adj" fmla="val 13090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945011"/>
            <a:ext cx="42416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48200" y="2754511"/>
            <a:ext cx="3962400" cy="838200"/>
          </a:xfrm>
          <a:prstGeom prst="roundRect">
            <a:avLst>
              <a:gd name="adj" fmla="val 13090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2945011"/>
            <a:ext cx="424160" cy="4572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33400" y="3745111"/>
            <a:ext cx="3962400" cy="838200"/>
          </a:xfrm>
          <a:prstGeom prst="roundRect">
            <a:avLst>
              <a:gd name="adj" fmla="val 13090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935611"/>
            <a:ext cx="424160" cy="4572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648200" y="3745111"/>
            <a:ext cx="3962400" cy="838200"/>
          </a:xfrm>
          <a:prstGeom prst="roundRect">
            <a:avLst>
              <a:gd name="adj" fmla="val 13090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3935611"/>
            <a:ext cx="424160" cy="4572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33400" y="560189"/>
            <a:ext cx="82387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Contents</a:t>
            </a:r>
            <a:endParaRPr lang="en-US" sz="960" dirty="0"/>
          </a:p>
        </p:txBody>
      </p:sp>
      <p:sp>
        <p:nvSpPr>
          <p:cNvPr id="15" name="Text 7"/>
          <p:cNvSpPr/>
          <p:nvPr/>
        </p:nvSpPr>
        <p:spPr>
          <a:xfrm>
            <a:off x="533400" y="819150"/>
            <a:ext cx="82387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F1E8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목차</a:t>
            </a:r>
            <a:endParaRPr lang="en-US" sz="3360" dirty="0"/>
          </a:p>
        </p:txBody>
      </p:sp>
      <p:sp>
        <p:nvSpPr>
          <p:cNvPr id="16" name="Text 8"/>
          <p:cNvSpPr/>
          <p:nvPr/>
        </p:nvSpPr>
        <p:spPr>
          <a:xfrm>
            <a:off x="1338560" y="1977330"/>
            <a:ext cx="1011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제품 포지셔닝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1338560" y="2205930"/>
            <a:ext cx="101177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차별화 포인트 분석</a:t>
            </a:r>
            <a:endParaRPr lang="en-US" sz="960" dirty="0"/>
          </a:p>
        </p:txBody>
      </p:sp>
      <p:sp>
        <p:nvSpPr>
          <p:cNvPr id="18" name="Text 10"/>
          <p:cNvSpPr/>
          <p:nvPr/>
        </p:nvSpPr>
        <p:spPr>
          <a:xfrm>
            <a:off x="5453360" y="1977330"/>
            <a:ext cx="11679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시장 분석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5453360" y="2205930"/>
            <a:ext cx="116798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타깃 시장 규모와 기회</a:t>
            </a:r>
            <a:endParaRPr lang="en-US" sz="960" dirty="0"/>
          </a:p>
        </p:txBody>
      </p:sp>
      <p:sp>
        <p:nvSpPr>
          <p:cNvPr id="20" name="Text 12"/>
          <p:cNvSpPr/>
          <p:nvPr/>
        </p:nvSpPr>
        <p:spPr>
          <a:xfrm>
            <a:off x="1338560" y="2967930"/>
            <a:ext cx="1229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수익화 모델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1338560" y="3196530"/>
            <a:ext cx="122961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B2C + B2B 혼합 전략</a:t>
            </a:r>
            <a:endParaRPr lang="en-US" sz="960" dirty="0"/>
          </a:p>
        </p:txBody>
      </p:sp>
      <p:sp>
        <p:nvSpPr>
          <p:cNvPr id="22" name="Text 14"/>
          <p:cNvSpPr/>
          <p:nvPr/>
        </p:nvSpPr>
        <p:spPr>
          <a:xfrm>
            <a:off x="5453360" y="2967930"/>
            <a:ext cx="857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성장 로드맵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5453360" y="3196530"/>
            <a:ext cx="8576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3단계 성장 전략</a:t>
            </a:r>
            <a:endParaRPr lang="en-US" sz="960" dirty="0"/>
          </a:p>
        </p:txBody>
      </p:sp>
      <p:sp>
        <p:nvSpPr>
          <p:cNvPr id="24" name="Text 16"/>
          <p:cNvSpPr/>
          <p:nvPr/>
        </p:nvSpPr>
        <p:spPr>
          <a:xfrm>
            <a:off x="1338560" y="3958530"/>
            <a:ext cx="982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즉시 실행 액션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1338560" y="4187130"/>
            <a:ext cx="98263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우선순위별 To-Do</a:t>
            </a:r>
            <a:endParaRPr lang="en-US" sz="960" dirty="0"/>
          </a:p>
        </p:txBody>
      </p:sp>
      <p:sp>
        <p:nvSpPr>
          <p:cNvPr id="26" name="Text 18"/>
          <p:cNvSpPr/>
          <p:nvPr/>
        </p:nvSpPr>
        <p:spPr>
          <a:xfrm>
            <a:off x="5453360" y="3958530"/>
            <a:ext cx="1011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기술 리스크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453360" y="4187130"/>
            <a:ext cx="101177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인프라 최적화 방향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989683"/>
            <a:ext cx="2590800" cy="1651397"/>
          </a:xfrm>
          <a:prstGeom prst="roundRect">
            <a:avLst>
              <a:gd name="adj" fmla="val 77520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E879F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76600" y="1989683"/>
            <a:ext cx="2590800" cy="1651397"/>
          </a:xfrm>
          <a:prstGeom prst="roundRect">
            <a:avLst>
              <a:gd name="adj" fmla="val 77520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FB923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0" y="1989683"/>
            <a:ext cx="2590800" cy="16513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3400" y="3823841"/>
            <a:ext cx="8077200" cy="735509"/>
          </a:xfrm>
          <a:prstGeom prst="roundRect">
            <a:avLst>
              <a:gd name="adj" fmla="val 124322"/>
            </a:avLst>
          </a:prstGeom>
          <a:solidFill>
            <a:srgbClr val="E879F9">
              <a:alpha val="8000"/>
            </a:srgbClr>
          </a:solidFill>
          <a:ln w="9525">
            <a:solidFill>
              <a:srgbClr val="E879F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584150"/>
            <a:ext cx="82387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01 · Product Positioning</a:t>
            </a:r>
            <a:endParaRPr lang="en-US" sz="960" dirty="0"/>
          </a:p>
        </p:txBody>
      </p:sp>
      <p:sp>
        <p:nvSpPr>
          <p:cNvPr id="7" name="Text 4"/>
          <p:cNvSpPr/>
          <p:nvPr/>
        </p:nvSpPr>
        <p:spPr>
          <a:xfrm>
            <a:off x="533400" y="843111"/>
            <a:ext cx="82387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F1E8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LoveBud는 무엇이 다른가?</a:t>
            </a:r>
            <a:endParaRPr lang="en-US" sz="3360" dirty="0"/>
          </a:p>
        </p:txBody>
      </p:sp>
      <p:sp>
        <p:nvSpPr>
          <p:cNvPr id="8" name="Text 5"/>
          <p:cNvSpPr/>
          <p:nvPr/>
        </p:nvSpPr>
        <p:spPr>
          <a:xfrm>
            <a:off x="533400" y="1543943"/>
            <a:ext cx="823874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기존 서비스와의 결정적 차이 — 정보 정리가 아닌 </a:t>
            </a:r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감정 흐름의 기록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704850" y="2227808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📌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04850" y="2761208"/>
            <a:ext cx="229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Notion / Pinterest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16038" y="3066008"/>
            <a:ext cx="740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FB718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차갑고 기계적</a:t>
            </a:r>
            <a:endParaRPr lang="en-US" sz="984" dirty="0"/>
          </a:p>
        </p:txBody>
      </p:sp>
      <p:sp>
        <p:nvSpPr>
          <p:cNvPr id="12" name="Text 9"/>
          <p:cNvSpPr/>
          <p:nvPr/>
        </p:nvSpPr>
        <p:spPr>
          <a:xfrm>
            <a:off x="3448050" y="2227808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🎬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448050" y="2761208"/>
            <a:ext cx="229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Letterboxd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76750" y="3066008"/>
            <a:ext cx="6234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FB718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단방향 리뷰</a:t>
            </a:r>
            <a:endParaRPr lang="en-US" sz="984" dirty="0"/>
          </a:p>
        </p:txBody>
      </p:sp>
      <p:sp>
        <p:nvSpPr>
          <p:cNvPr id="15" name="Text 12"/>
          <p:cNvSpPr/>
          <p:nvPr/>
        </p:nvSpPr>
        <p:spPr>
          <a:xfrm>
            <a:off x="6200775" y="2227808"/>
            <a:ext cx="2273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🌸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200775" y="2761208"/>
            <a:ext cx="2273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LoveBud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00775" y="3046958"/>
            <a:ext cx="2228850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입덕 첫 순간 → 감정 경로 시각화 → 트리로 성장 → 커뮤니티 공유</a:t>
            </a:r>
            <a:endParaRPr lang="en-US" sz="984" dirty="0"/>
          </a:p>
        </p:txBody>
      </p:sp>
      <p:sp>
        <p:nvSpPr>
          <p:cNvPr id="18" name="Text 15"/>
          <p:cNvSpPr/>
          <p:nvPr/>
        </p:nvSpPr>
        <p:spPr>
          <a:xfrm>
            <a:off x="733425" y="4020145"/>
            <a:ext cx="2331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💡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76325" y="3985766"/>
            <a:ext cx="7334250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핵심 USP: YouTube 타임스탬프 + 감정 메모를 </a:t>
            </a:r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"나무(Tree)"</a:t>
            </a:r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구조로 연결하는 유일한 서비스. 팬덤에서 이미 자생하는 "입덕 경로 공유" 문화를 제품화했다.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619696"/>
            <a:ext cx="1919288" cy="1186309"/>
          </a:xfrm>
          <a:prstGeom prst="roundRect">
            <a:avLst>
              <a:gd name="adj" fmla="val 10791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10196"/>
            <a:ext cx="1614488" cy="4344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86038" y="1619696"/>
            <a:ext cx="1919288" cy="1186309"/>
          </a:xfrm>
          <a:prstGeom prst="roundRect">
            <a:avLst>
              <a:gd name="adj" fmla="val 10791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8" y="1810196"/>
            <a:ext cx="1614488" cy="4344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38675" y="1619696"/>
            <a:ext cx="1919288" cy="1186309"/>
          </a:xfrm>
          <a:prstGeom prst="roundRect">
            <a:avLst>
              <a:gd name="adj" fmla="val 10791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075" y="1810196"/>
            <a:ext cx="1614488" cy="4344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91313" y="1619696"/>
            <a:ext cx="1919288" cy="1186309"/>
          </a:xfrm>
          <a:prstGeom prst="roundRect">
            <a:avLst>
              <a:gd name="adj" fmla="val 10791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713" y="1810196"/>
            <a:ext cx="1614488" cy="43442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33400" y="3019276"/>
            <a:ext cx="3962400" cy="1632198"/>
          </a:xfrm>
          <a:prstGeom prst="roundRect">
            <a:avLst>
              <a:gd name="adj" fmla="val 67227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4648200" y="3019276"/>
            <a:ext cx="3962400" cy="1632198"/>
          </a:xfrm>
          <a:prstGeom prst="roundRect">
            <a:avLst>
              <a:gd name="adj" fmla="val 67227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533400" y="492175"/>
            <a:ext cx="82387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02 · Market Analysis</a:t>
            </a:r>
            <a:endParaRPr lang="en-US" sz="960" dirty="0"/>
          </a:p>
        </p:txBody>
      </p:sp>
      <p:sp>
        <p:nvSpPr>
          <p:cNvPr id="13" name="Text 7"/>
          <p:cNvSpPr/>
          <p:nvPr/>
        </p:nvSpPr>
        <p:spPr>
          <a:xfrm>
            <a:off x="533400" y="751136"/>
            <a:ext cx="82387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F1E8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글로벌 팬덤 시장 기회</a:t>
            </a:r>
            <a:endParaRPr lang="en-US" sz="3360" dirty="0"/>
          </a:p>
        </p:txBody>
      </p:sp>
      <p:sp>
        <p:nvSpPr>
          <p:cNvPr id="14" name="Text 8"/>
          <p:cNvSpPr/>
          <p:nvPr/>
        </p:nvSpPr>
        <p:spPr>
          <a:xfrm>
            <a:off x="685800" y="2282726"/>
            <a:ext cx="1614488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 세계 K-pop</a:t>
            </a:r>
            <a:endParaRPr lang="en-US" sz="936" dirty="0"/>
          </a:p>
          <a:p>
            <a:pPr algn="ctr"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팬덤 인구</a:t>
            </a:r>
            <a:endParaRPr lang="en-US" sz="936" dirty="0"/>
          </a:p>
        </p:txBody>
      </p:sp>
      <p:sp>
        <p:nvSpPr>
          <p:cNvPr id="15" name="Text 9"/>
          <p:cNvSpPr/>
          <p:nvPr/>
        </p:nvSpPr>
        <p:spPr>
          <a:xfrm>
            <a:off x="2738438" y="2282726"/>
            <a:ext cx="1614488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K-pop 글로벌</a:t>
            </a:r>
            <a:endParaRPr lang="en-US" sz="936" dirty="0"/>
          </a:p>
          <a:p>
            <a:pPr algn="ctr"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시장 규모 (2024)</a:t>
            </a:r>
            <a:endParaRPr lang="en-US" sz="936" dirty="0"/>
          </a:p>
        </p:txBody>
      </p:sp>
      <p:sp>
        <p:nvSpPr>
          <p:cNvPr id="16" name="Text 10"/>
          <p:cNvSpPr/>
          <p:nvPr/>
        </p:nvSpPr>
        <p:spPr>
          <a:xfrm>
            <a:off x="4791075" y="2282726"/>
            <a:ext cx="1614488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Z세대 팬덤 참여</a:t>
            </a:r>
            <a:endParaRPr lang="en-US" sz="936" dirty="0"/>
          </a:p>
          <a:p>
            <a:pPr algn="ctr"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온라인 비율</a:t>
            </a:r>
            <a:endParaRPr lang="en-US" sz="936" dirty="0"/>
          </a:p>
        </p:txBody>
      </p:sp>
      <p:sp>
        <p:nvSpPr>
          <p:cNvPr id="17" name="Text 11"/>
          <p:cNvSpPr/>
          <p:nvPr/>
        </p:nvSpPr>
        <p:spPr>
          <a:xfrm>
            <a:off x="6843713" y="2282726"/>
            <a:ext cx="1614488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YouTube 통해</a:t>
            </a:r>
            <a:endParaRPr lang="en-US" sz="936" dirty="0"/>
          </a:p>
          <a:p>
            <a:pPr algn="ctr"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입덕 경험 비율</a:t>
            </a:r>
            <a:endParaRPr lang="en-US" sz="936" dirty="0"/>
          </a:p>
        </p:txBody>
      </p:sp>
      <p:sp>
        <p:nvSpPr>
          <p:cNvPr id="18" name="Text 12"/>
          <p:cNvSpPr/>
          <p:nvPr/>
        </p:nvSpPr>
        <p:spPr>
          <a:xfrm>
            <a:off x="704850" y="3190726"/>
            <a:ext cx="369189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🎯 핵심 타깃 시장</a:t>
            </a:r>
            <a:endParaRPr lang="en-US" sz="1140" dirty="0"/>
          </a:p>
        </p:txBody>
      </p:sp>
      <p:sp>
        <p:nvSpPr>
          <p:cNvPr id="19" name="Text 13"/>
          <p:cNvSpPr/>
          <p:nvPr/>
        </p:nvSpPr>
        <p:spPr>
          <a:xfrm>
            <a:off x="704850" y="3503116"/>
            <a:ext cx="3619500" cy="97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K-pop 팬덤 (한국·동남아·미국)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YouTube 크리에이터 팬 커뮤니티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애니·드라마·영화 팬덤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10~30대 Z세대·밀레니얼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819650" y="3190726"/>
            <a:ext cx="369189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📈 시장 진입 타이밍</a:t>
            </a:r>
            <a:endParaRPr lang="en-US" sz="1140" dirty="0"/>
          </a:p>
        </p:txBody>
      </p:sp>
      <p:sp>
        <p:nvSpPr>
          <p:cNvPr id="21" name="Text 15"/>
          <p:cNvSpPr/>
          <p:nvPr/>
        </p:nvSpPr>
        <p:spPr>
          <a:xfrm>
            <a:off x="4819650" y="3503116"/>
            <a:ext cx="3619500" cy="97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"입덕 경로 공유" 문화 이미 존재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경쟁 서비스 공백 — 블루오션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K-culture 글로벌 확산 최고조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팬덤 SNS 피로감 증가 중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211163"/>
            <a:ext cx="3962400" cy="1889820"/>
          </a:xfrm>
          <a:prstGeom prst="roundRect">
            <a:avLst>
              <a:gd name="adj" fmla="val 6774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0" y="1211163"/>
            <a:ext cx="3962400" cy="18898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3253383"/>
            <a:ext cx="3962400" cy="1623864"/>
          </a:xfrm>
          <a:prstGeom prst="roundRect">
            <a:avLst>
              <a:gd name="adj" fmla="val 7883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48200" y="3253383"/>
            <a:ext cx="3962400" cy="1623864"/>
          </a:xfrm>
          <a:prstGeom prst="roundRect">
            <a:avLst>
              <a:gd name="adj" fmla="val 7883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83641"/>
            <a:ext cx="82387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03 · Monetization</a:t>
            </a:r>
            <a:endParaRPr lang="en-US" sz="960" dirty="0"/>
          </a:p>
        </p:txBody>
      </p:sp>
      <p:sp>
        <p:nvSpPr>
          <p:cNvPr id="7" name="Text 4"/>
          <p:cNvSpPr/>
          <p:nvPr/>
        </p:nvSpPr>
        <p:spPr>
          <a:xfrm>
            <a:off x="533400" y="342602"/>
            <a:ext cx="82387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F1E8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수익화 모델 구조</a:t>
            </a:r>
            <a:endParaRPr lang="en-US" sz="3360" dirty="0"/>
          </a:p>
        </p:txBody>
      </p:sp>
      <p:sp>
        <p:nvSpPr>
          <p:cNvPr id="8" name="Text 5"/>
          <p:cNvSpPr/>
          <p:nvPr/>
        </p:nvSpPr>
        <p:spPr>
          <a:xfrm>
            <a:off x="742950" y="1452711"/>
            <a:ext cx="2331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🆓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66800" y="1420713"/>
            <a:ext cx="79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Free Tier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66800" y="1649313"/>
            <a:ext cx="795305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무료 · 성장 엔진</a:t>
            </a:r>
            <a:endParaRPr lang="en-US" sz="936" dirty="0"/>
          </a:p>
        </p:txBody>
      </p:sp>
      <p:sp>
        <p:nvSpPr>
          <p:cNvPr id="11" name="Text 8"/>
          <p:cNvSpPr/>
          <p:nvPr/>
        </p:nvSpPr>
        <p:spPr>
          <a:xfrm>
            <a:off x="742950" y="1941909"/>
            <a:ext cx="3543300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 공개 러브트리 무제한 생성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 Browse/Search 기능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 YouTube 타임스탬프 연동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— 비공개 트리 불가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67275" y="1462236"/>
            <a:ext cx="2331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💎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191125" y="1430238"/>
            <a:ext cx="8666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Plus 플랜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91125" y="1658838"/>
            <a:ext cx="866653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₩4,900/월 예상</a:t>
            </a:r>
            <a:endParaRPr lang="en-US" sz="936" dirty="0"/>
          </a:p>
        </p:txBody>
      </p:sp>
      <p:sp>
        <p:nvSpPr>
          <p:cNvPr id="15" name="Text 12"/>
          <p:cNvSpPr/>
          <p:nvPr/>
        </p:nvSpPr>
        <p:spPr>
          <a:xfrm>
            <a:off x="4867275" y="1951434"/>
            <a:ext cx="3524250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 Private Storage (비공개 트리)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 고급 테마 &amp; 스킨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 트리 Export (이미지/PDF)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 우선 Browse 노출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2950" y="3494931"/>
            <a:ext cx="2331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🏢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66800" y="3462933"/>
            <a:ext cx="16262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Artist/Agency Plan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66800" y="3691533"/>
            <a:ext cx="1626284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B2B · 월정액 SaaS</a:t>
            </a:r>
            <a:endParaRPr lang="en-US" sz="936" dirty="0"/>
          </a:p>
        </p:txBody>
      </p:sp>
      <p:sp>
        <p:nvSpPr>
          <p:cNvPr id="19" name="Text 16"/>
          <p:cNvSpPr/>
          <p:nvPr/>
        </p:nvSpPr>
        <p:spPr>
          <a:xfrm>
            <a:off x="742950" y="3984129"/>
            <a:ext cx="3543300" cy="68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 공식 아티스트 러브트리 채널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 팬 분석 대시보드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 신곡 런칭 캠페인 연동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57750" y="3494931"/>
            <a:ext cx="2331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🎯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181600" y="3462933"/>
            <a:ext cx="13639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Sponsored Tree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81600" y="3691533"/>
            <a:ext cx="1363965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브랜드 캠페인 광고</a:t>
            </a:r>
            <a:endParaRPr lang="en-US" sz="936" dirty="0"/>
          </a:p>
        </p:txBody>
      </p:sp>
      <p:sp>
        <p:nvSpPr>
          <p:cNvPr id="23" name="Text 20"/>
          <p:cNvSpPr/>
          <p:nvPr/>
        </p:nvSpPr>
        <p:spPr>
          <a:xfrm>
            <a:off x="4857750" y="3984129"/>
            <a:ext cx="3543300" cy="68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 브랜드 공식 러브트리 운영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 신보·콘텐츠 런칭 연동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 팬덤 인게이지먼트 측정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471017"/>
            <a:ext cx="8077200" cy="1020812"/>
          </a:xfrm>
          <a:prstGeom prst="roundRect">
            <a:avLst>
              <a:gd name="adj" fmla="val 10749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625179"/>
            <a:ext cx="8077200" cy="1020812"/>
          </a:xfrm>
          <a:prstGeom prst="roundRect">
            <a:avLst>
              <a:gd name="adj" fmla="val 10749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3779341"/>
            <a:ext cx="8077200" cy="1020812"/>
          </a:xfrm>
          <a:prstGeom prst="roundRect">
            <a:avLst>
              <a:gd name="adj" fmla="val 10749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43495"/>
            <a:ext cx="82387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04 · Growth Roadmap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533400" y="602456"/>
            <a:ext cx="82387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F1E8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3단계 성장 전략</a:t>
            </a:r>
            <a:endParaRPr lang="en-US" sz="3360" dirty="0"/>
          </a:p>
        </p:txBody>
      </p:sp>
      <p:sp>
        <p:nvSpPr>
          <p:cNvPr id="7" name="Text 5"/>
          <p:cNvSpPr/>
          <p:nvPr/>
        </p:nvSpPr>
        <p:spPr>
          <a:xfrm>
            <a:off x="781050" y="1670893"/>
            <a:ext cx="17487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79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1050" y="1880443"/>
            <a:ext cx="1748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코어 락인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1050" y="2109043"/>
            <a:ext cx="17487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0~6개월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2686050" y="1642467"/>
            <a:ext cx="5715000" cy="67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K-pop 커뮤니티(트위터·디시인사이드) 베타 유저 100명 모집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"내 최애 입덕 러브트리 공유" 챌린지 → 바이럴 루프 설계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Plus 플랜 조기 출시 → 초기 수익 검증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1050" y="2825055"/>
            <a:ext cx="17487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1050" y="3034605"/>
            <a:ext cx="1748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파트너십 확장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050" y="3263205"/>
            <a:ext cx="17487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6~18개월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686050" y="2796629"/>
            <a:ext cx="5715000" cy="67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K-pop 소속사 B2B Artist Plan 계약 1~3건 체결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유튜브 크리에이터 앰배서더 프로그램 운영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SNS 공유 카드 자동 생성 (OG image) → 재공유 유도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050" y="3979218"/>
            <a:ext cx="17487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855F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1050" y="4188768"/>
            <a:ext cx="1748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글로벌 확장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050" y="4417368"/>
            <a:ext cx="17487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18개월~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2686050" y="3950791"/>
            <a:ext cx="5715000" cy="67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일본·동남아 K-pop 팬덤 현지화 (다국어 지원)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애니·J-pop 팬덤으로 카테고리 확장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시리즈 A 투자 유치 검토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656755"/>
            <a:ext cx="3971925" cy="1404342"/>
          </a:xfrm>
          <a:prstGeom prst="roundRect">
            <a:avLst>
              <a:gd name="adj" fmla="val 78135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860500"/>
            <a:ext cx="603200" cy="2476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8675" y="1656755"/>
            <a:ext cx="3971925" cy="1404342"/>
          </a:xfrm>
          <a:prstGeom prst="roundRect">
            <a:avLst>
              <a:gd name="adj" fmla="val 78135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175" y="1860500"/>
            <a:ext cx="603200" cy="2476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400" y="3194447"/>
            <a:ext cx="3971925" cy="1404342"/>
          </a:xfrm>
          <a:prstGeom prst="roundRect">
            <a:avLst>
              <a:gd name="adj" fmla="val 78135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23900" y="3388668"/>
            <a:ext cx="622250" cy="266700"/>
          </a:xfrm>
          <a:prstGeom prst="roundRect">
            <a:avLst>
              <a:gd name="adj" fmla="val 274286"/>
            </a:avLst>
          </a:prstGeom>
          <a:solidFill>
            <a:srgbClr val="A855F7">
              <a:alpha val="25000"/>
            </a:srgbClr>
          </a:solidFill>
          <a:ln w="9525">
            <a:solidFill>
              <a:srgbClr val="A855F7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P2 중요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638675" y="3194447"/>
            <a:ext cx="3971925" cy="1404342"/>
          </a:xfrm>
          <a:prstGeom prst="roundRect">
            <a:avLst>
              <a:gd name="adj" fmla="val 78135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829175" y="3388668"/>
            <a:ext cx="622250" cy="266700"/>
          </a:xfrm>
          <a:prstGeom prst="roundRect">
            <a:avLst>
              <a:gd name="adj" fmla="val 274286"/>
            </a:avLst>
          </a:prstGeom>
          <a:solidFill>
            <a:srgbClr val="A855F7">
              <a:alpha val="25000"/>
            </a:srgbClr>
          </a:solidFill>
          <a:ln w="9525">
            <a:solidFill>
              <a:srgbClr val="A855F7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P2 중요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33400" y="544562"/>
            <a:ext cx="82387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05 · Immediate Actions</a:t>
            </a:r>
            <a:endParaRPr lang="en-US" sz="960" dirty="0"/>
          </a:p>
        </p:txBody>
      </p:sp>
      <p:sp>
        <p:nvSpPr>
          <p:cNvPr id="11" name="Text 7"/>
          <p:cNvSpPr/>
          <p:nvPr/>
        </p:nvSpPr>
        <p:spPr>
          <a:xfrm>
            <a:off x="533400" y="803523"/>
            <a:ext cx="82387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F1E8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지금 당장 해야 할 일</a:t>
            </a:r>
            <a:endParaRPr lang="en-US" sz="3360" dirty="0"/>
          </a:p>
        </p:txBody>
      </p:sp>
      <p:sp>
        <p:nvSpPr>
          <p:cNvPr id="12" name="Text 8"/>
          <p:cNvSpPr/>
          <p:nvPr/>
        </p:nvSpPr>
        <p:spPr>
          <a:xfrm>
            <a:off x="1422350" y="1847255"/>
            <a:ext cx="18459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🖥️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723900" y="2216795"/>
            <a:ext cx="366274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랜딩 페이지 리포지셔닝</a:t>
            </a:r>
            <a:endParaRPr lang="en-US" sz="1140" dirty="0"/>
          </a:p>
        </p:txBody>
      </p:sp>
      <p:sp>
        <p:nvSpPr>
          <p:cNvPr id="14" name="Text 10"/>
          <p:cNvSpPr/>
          <p:nvPr/>
        </p:nvSpPr>
        <p:spPr>
          <a:xfrm>
            <a:off x="723900" y="2491085"/>
            <a:ext cx="3590925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4"/>
              </a:lnSpc>
              <a:buNone/>
            </a:pPr>
            <a:r>
              <a:rPr lang="en-US" sz="99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"감정 스크랩북" 컨셉 강화. 스크린샷·데모 GIF 추가. lovebud.pages.dev 첫인상 최적화</a:t>
            </a:r>
            <a:endParaRPr lang="en-US" sz="996" dirty="0"/>
          </a:p>
        </p:txBody>
      </p:sp>
      <p:sp>
        <p:nvSpPr>
          <p:cNvPr id="15" name="Text 11"/>
          <p:cNvSpPr/>
          <p:nvPr/>
        </p:nvSpPr>
        <p:spPr>
          <a:xfrm>
            <a:off x="5527625" y="1847255"/>
            <a:ext cx="18459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📤</a:t>
            </a:r>
            <a:endParaRPr lang="en-US" sz="1440" dirty="0"/>
          </a:p>
        </p:txBody>
      </p:sp>
      <p:sp>
        <p:nvSpPr>
          <p:cNvPr id="16" name="Text 12"/>
          <p:cNvSpPr/>
          <p:nvPr/>
        </p:nvSpPr>
        <p:spPr>
          <a:xfrm>
            <a:off x="4829175" y="2216795"/>
            <a:ext cx="366274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SNS 공유 기능 완성</a:t>
            </a:r>
            <a:endParaRPr lang="en-US" sz="1140" dirty="0"/>
          </a:p>
        </p:txBody>
      </p:sp>
      <p:sp>
        <p:nvSpPr>
          <p:cNvPr id="17" name="Text 13"/>
          <p:cNvSpPr/>
          <p:nvPr/>
        </p:nvSpPr>
        <p:spPr>
          <a:xfrm>
            <a:off x="4829175" y="2491085"/>
            <a:ext cx="3590925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4"/>
              </a:lnSpc>
              <a:buNone/>
            </a:pPr>
            <a:r>
              <a:rPr lang="en-US" sz="99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러브트리 1개 → 카드 이미지로 공유 가능하게. 가장 빠른 바이럴 트리거</a:t>
            </a:r>
            <a:endParaRPr lang="en-US" sz="996" dirty="0"/>
          </a:p>
        </p:txBody>
      </p:sp>
      <p:sp>
        <p:nvSpPr>
          <p:cNvPr id="18" name="Text 14"/>
          <p:cNvSpPr/>
          <p:nvPr/>
        </p:nvSpPr>
        <p:spPr>
          <a:xfrm>
            <a:off x="1441400" y="3384947"/>
            <a:ext cx="18459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👥</a:t>
            </a:r>
            <a:endParaRPr lang="en-US" sz="1440" dirty="0"/>
          </a:p>
        </p:txBody>
      </p:sp>
      <p:sp>
        <p:nvSpPr>
          <p:cNvPr id="19" name="Text 15"/>
          <p:cNvSpPr/>
          <p:nvPr/>
        </p:nvSpPr>
        <p:spPr>
          <a:xfrm>
            <a:off x="723900" y="3754487"/>
            <a:ext cx="366274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베타 유저 100명 모집</a:t>
            </a:r>
            <a:endParaRPr lang="en-US" sz="1140" dirty="0"/>
          </a:p>
        </p:txBody>
      </p:sp>
      <p:sp>
        <p:nvSpPr>
          <p:cNvPr id="20" name="Text 16"/>
          <p:cNvSpPr/>
          <p:nvPr/>
        </p:nvSpPr>
        <p:spPr>
          <a:xfrm>
            <a:off x="723900" y="4028777"/>
            <a:ext cx="3662744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4"/>
              </a:lnSpc>
              <a:buNone/>
            </a:pPr>
            <a:r>
              <a:rPr lang="en-US" sz="99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K-pop 팬덤 커뮤니티 직접 모집. 피드백 루프 구축. NPS 측정 시작</a:t>
            </a:r>
            <a:endParaRPr lang="en-US" sz="996" dirty="0"/>
          </a:p>
        </p:txBody>
      </p:sp>
      <p:sp>
        <p:nvSpPr>
          <p:cNvPr id="21" name="Text 17"/>
          <p:cNvSpPr/>
          <p:nvPr/>
        </p:nvSpPr>
        <p:spPr>
          <a:xfrm>
            <a:off x="5546675" y="3384947"/>
            <a:ext cx="18459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💳</a:t>
            </a:r>
            <a:endParaRPr lang="en-US" sz="1440" dirty="0"/>
          </a:p>
        </p:txBody>
      </p:sp>
      <p:sp>
        <p:nvSpPr>
          <p:cNvPr id="22" name="Text 18"/>
          <p:cNvSpPr/>
          <p:nvPr/>
        </p:nvSpPr>
        <p:spPr>
          <a:xfrm>
            <a:off x="4829175" y="3754487"/>
            <a:ext cx="366274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Plus 플랜 조기 출시</a:t>
            </a:r>
            <a:endParaRPr lang="en-US" sz="1140" dirty="0"/>
          </a:p>
        </p:txBody>
      </p:sp>
      <p:sp>
        <p:nvSpPr>
          <p:cNvPr id="23" name="Text 19"/>
          <p:cNvSpPr/>
          <p:nvPr/>
        </p:nvSpPr>
        <p:spPr>
          <a:xfrm>
            <a:off x="4829175" y="4028777"/>
            <a:ext cx="3590925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4"/>
              </a:lnSpc>
              <a:buNone/>
            </a:pPr>
            <a:r>
              <a:rPr lang="en-US" sz="99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Private tree 비공개 기능 유료화. 월 ₩4,900 책정. 초기 수익 모델 검증</a:t>
            </a:r>
            <a:endParaRPr lang="en-US" sz="99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2127647"/>
            <a:ext cx="3962400" cy="1633389"/>
          </a:xfrm>
          <a:prstGeom prst="roundRect">
            <a:avLst>
              <a:gd name="adj" fmla="val 67178"/>
            </a:avLst>
          </a:prstGeom>
          <a:solidFill>
            <a:srgbClr val="FB7185">
              <a:alpha val="8000"/>
            </a:srgbClr>
          </a:solidFill>
          <a:ln w="9525">
            <a:solidFill>
              <a:srgbClr val="FB7185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2127647"/>
            <a:ext cx="3962400" cy="1633389"/>
          </a:xfrm>
          <a:prstGeom prst="roundRect">
            <a:avLst>
              <a:gd name="adj" fmla="val 67178"/>
            </a:avLst>
          </a:prstGeom>
          <a:solidFill>
            <a:srgbClr val="22C55E">
              <a:alpha val="8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3894386"/>
            <a:ext cx="8077200" cy="500211"/>
          </a:xfrm>
          <a:prstGeom prst="roundRect">
            <a:avLst>
              <a:gd name="adj" fmla="val 182803"/>
            </a:avLst>
          </a:prstGeom>
          <a:solidFill>
            <a:srgbClr val="E879F9">
              <a:alpha val="8000"/>
            </a:srgbClr>
          </a:solidFill>
          <a:ln w="9525">
            <a:solidFill>
              <a:srgbClr val="E879F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748754"/>
            <a:ext cx="82387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06 · Technical Risk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533400" y="1007715"/>
            <a:ext cx="82387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F1E8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인프라 최적화 방향</a:t>
            </a:r>
            <a:endParaRPr lang="en-US" sz="3360" dirty="0"/>
          </a:p>
        </p:txBody>
      </p:sp>
      <p:sp>
        <p:nvSpPr>
          <p:cNvPr id="7" name="Text 5"/>
          <p:cNvSpPr/>
          <p:nvPr/>
        </p:nvSpPr>
        <p:spPr>
          <a:xfrm>
            <a:off x="533400" y="1708547"/>
            <a:ext cx="8238744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현재 4중 레이어 구조 → 2단 구조로 단순화 필요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14375" y="2308622"/>
            <a:ext cx="3672459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FB718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⚠️ 현재 리스크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14375" y="2621012"/>
            <a:ext cx="3600450" cy="959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Cloudflare → Modal → Vercel → Netlify 4중 레이어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운영 복잡도 높음 → 장애 추적 어려움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Vanilla JS + HTML → 팀 확장 시 확장성 제한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번들러 부재 → 코드 스플리팅 불가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29175" y="2308622"/>
            <a:ext cx="3672459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✅ 권장 방향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4829175" y="2621012"/>
            <a:ext cx="3600450" cy="959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Cloudflare Pages + Modal 2단 구조 단순화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Netlify 레거시 경로 단계적 제거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유저 1,000명 돌파 시 React 마이그레이션 계획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모니터링 도구 (Sentry / Cloudflare Analytics) 도입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3425" y="4037261"/>
            <a:ext cx="7830693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90"/>
              </a:lnSpc>
              <a:buNone/>
            </a:pPr>
            <a:r>
              <a:rPr lang="en-US" sz="105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💡 </a:t>
            </a:r>
            <a:pPr indent="0" marL="0">
              <a:lnSpc>
                <a:spcPts val="1690"/>
              </a:lnSpc>
              <a:buNone/>
            </a:pPr>
            <a:r>
              <a:rPr lang="en-US" sz="1056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핵심 원칙:</a:t>
            </a:r>
            <a:pPr indent="0" marL="0">
              <a:lnSpc>
                <a:spcPts val="1690"/>
              </a:lnSpc>
              <a:buNone/>
            </a:pPr>
            <a:r>
              <a:rPr lang="en-US" sz="105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기술 완성도보다 </a:t>
            </a:r>
            <a:pPr indent="0" marL="0">
              <a:lnSpc>
                <a:spcPts val="1690"/>
              </a:lnSpc>
              <a:buNone/>
            </a:pPr>
            <a:r>
              <a:rPr lang="en-US" sz="1056" b="1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실제 팬덤 유저 검증</a:t>
            </a:r>
            <a:pPr indent="0" marL="0">
              <a:lnSpc>
                <a:spcPts val="1690"/>
              </a:lnSpc>
              <a:buNone/>
            </a:pPr>
            <a:r>
              <a:rPr lang="en-US" sz="1056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이 우선. 인프라 단순화는 MVP 검증 이후 진행해도 무방.</a:t>
            </a:r>
            <a:endParaRPr lang="en-US" sz="105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1691" y="4494758"/>
            <a:ext cx="2188071" cy="346621"/>
          </a:xfrm>
          <a:prstGeom prst="roundRect">
            <a:avLst>
              <a:gd name="adj" fmla="val 52760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square" lIns="171450" tIns="171450" rIns="171450" bIns="17145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🎯 Phase 1 — 유저 100명 락인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4164062" y="4494758"/>
            <a:ext cx="1645146" cy="346621"/>
          </a:xfrm>
          <a:prstGeom prst="roundRect">
            <a:avLst>
              <a:gd name="adj" fmla="val 52760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square" lIns="171450" tIns="171450" rIns="171450" bIns="17145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📤 SNS 공유 카드 완성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923508" y="4494758"/>
            <a:ext cx="1358652" cy="346621"/>
          </a:xfrm>
          <a:prstGeom prst="roundRect">
            <a:avLst>
              <a:gd name="adj" fmla="val 52760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square" lIns="171450" tIns="171450" rIns="171450" bIns="17145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💳 Plus 플랜 검증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452628" y="302121"/>
            <a:ext cx="8238744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25"/>
              </a:lnSpc>
              <a:buNone/>
            </a:pPr>
            <a:r>
              <a:rPr lang="en-US" sz="675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🌳</a:t>
            </a:r>
            <a:endParaRPr lang="en-US" sz="6750" dirty="0"/>
          </a:p>
        </p:txBody>
      </p:sp>
      <p:sp>
        <p:nvSpPr>
          <p:cNvPr id="6" name="Text 4"/>
          <p:cNvSpPr/>
          <p:nvPr/>
        </p:nvSpPr>
        <p:spPr>
          <a:xfrm>
            <a:off x="533400" y="1721346"/>
            <a:ext cx="807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800" b="1" dirty="0">
                <a:solidFill>
                  <a:srgbClr val="E879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첫 순간이 쌓여</a:t>
            </a:r>
            <a:endParaRPr lang="en-US" sz="4800" dirty="0"/>
          </a:p>
          <a:p>
            <a:pPr algn="ctr" indent="0" marL="0">
              <a:lnSpc>
                <a:spcPts val="7200"/>
              </a:lnSpc>
              <a:buNone/>
            </a:pPr>
            <a:r>
              <a:rPr lang="en-US" sz="4800" b="1" dirty="0">
                <a:solidFill>
                  <a:srgbClr val="E879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러브트리가 된다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33400" y="3702546"/>
            <a:ext cx="8077200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LoveBud는 팬덤 시장의 감정 경로를 최초로 제품화한 서비스입니다.</a:t>
            </a:r>
            <a:endParaRPr lang="en-US" sz="1200" dirty="0"/>
          </a:p>
          <a:p>
            <a:pPr algn="ctr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1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지금이 바로 시장 선점의 최적 타이밍입니다.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2026-04-26T05:00:48Z</dcterms:created>
  <dcterms:modified xsi:type="dcterms:W3CDTF">2026-04-26T05:00:48Z</dcterms:modified>
</cp:coreProperties>
</file>